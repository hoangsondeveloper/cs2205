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6858000" cy="9144000"/>
  <p:embeddedFontLst>
    <p:embeddedFont>
      <p:font typeface="Roboto"/>
      <p:regular r:id="rId14"/>
      <p:bold r:id="rId15"/>
      <p:italic r:id="rId16"/>
      <p:boldItalic r:id="rId17"/>
    </p:embeddedFont>
    <p:embeddedFont>
      <p:font typeface="Roboto Mono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schemas.openxmlformats.org/officeDocument/2006/relationships/font" Target="fonts/RobotoMono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Roboto-bold.fntdata"/><Relationship Id="rId14" Type="http://schemas.openxmlformats.org/officeDocument/2006/relationships/font" Target="fonts/Roboto-regular.fntdata"/><Relationship Id="rId17" Type="http://schemas.openxmlformats.org/officeDocument/2006/relationships/font" Target="fonts/Roboto-boldItalic.fntdata"/><Relationship Id="rId16" Type="http://schemas.openxmlformats.org/officeDocument/2006/relationships/font" Target="fonts/Roboto-italic.fntdata"/><Relationship Id="rId5" Type="http://schemas.openxmlformats.org/officeDocument/2006/relationships/slide" Target="slides/slide1.xml"/><Relationship Id="rId19" Type="http://schemas.openxmlformats.org/officeDocument/2006/relationships/font" Target="fonts/RobotoMono-bold.fntdata"/><Relationship Id="rId6" Type="http://schemas.openxmlformats.org/officeDocument/2006/relationships/slide" Target="slides/slide2.xml"/><Relationship Id="rId18" Type="http://schemas.openxmlformats.org/officeDocument/2006/relationships/font" Target="fonts/RobotoMono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0d8a3913ea_0_0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0d8a3913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0d8a3913ea_0_62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0d8a3913ea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5fe14d3b49_0_30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5fe14d3b49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10d8a3913ea_0_124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10d8a3913ea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10d8a3913ea_0_129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10d8a3913ea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10d8a3913ea_0_134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10d8a3913ea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0d8a3913ea_0_139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10d8a3913ea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252f9dc87_0_21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b252f9dc8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252f9dc87_0_28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b252f9dc87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R01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fmla="val 16667" name="adj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R01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R01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 flipH="1" rot="10800000">
            <a:off x="0" y="728400"/>
            <a:ext cx="9144000" cy="408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4"/>
          <p:cNvSpPr/>
          <p:nvPr/>
        </p:nvSpPr>
        <p:spPr>
          <a:xfrm>
            <a:off x="0" y="711888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4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68300" lvl="0" marL="4572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Char char="●"/>
              <a:defRPr sz="2200">
                <a:solidFill>
                  <a:srgbClr val="000000"/>
                </a:solidFill>
              </a:defRPr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Char char="○"/>
              <a:defRPr sz="2000">
                <a:solidFill>
                  <a:srgbClr val="000000"/>
                </a:solidFill>
              </a:defRPr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 sz="1800">
                <a:solidFill>
                  <a:srgbClr val="000000"/>
                </a:solidFill>
              </a:defRPr>
            </a:lvl3pPr>
            <a:lvl4pPr indent="-330200" lvl="3" marL="18288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>
                <a:solidFill>
                  <a:srgbClr val="000000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523550" y="4813799"/>
            <a:ext cx="548700" cy="27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" name="Google Shape;22;p4"/>
          <p:cNvSpPr txBox="1"/>
          <p:nvPr/>
        </p:nvSpPr>
        <p:spPr>
          <a:xfrm>
            <a:off x="471900" y="4803525"/>
            <a:ext cx="8133300" cy="29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UIT.CS2205.ResearchMethodology</a:t>
            </a:r>
            <a:endParaRPr b="1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/>
          <p:nvPr/>
        </p:nvSpPr>
        <p:spPr>
          <a:xfrm flipH="1" rot="10800000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4" name="Google Shape;34;p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/>
        </p:nvSpPr>
        <p:spPr>
          <a:xfrm flipH="1" rot="10800000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1" type="subTitle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9" name="Google Shape;4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0" name="Google Shape;50;p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0"/>
          <p:cNvSpPr txBox="1"/>
          <p:nvPr/>
        </p:nvSpPr>
        <p:spPr>
          <a:xfrm flipH="1" rot="10800000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10"/>
          <p:cNvSpPr/>
          <p:nvPr/>
        </p:nvSpPr>
        <p:spPr>
          <a:xfrm flipH="1" rot="10800000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57150" y="4163425"/>
            <a:ext cx="8382000" cy="44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4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 txBox="1"/>
          <p:nvPr>
            <p:ph hasCustomPrompt="1" type="title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" name="Google Shape;58;p11"/>
          <p:cNvSpPr txBox="1"/>
          <p:nvPr>
            <p:ph idx="1" type="body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9" name="Google Shape;59;p1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4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terial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ithub.com/HoangSonDeveloper/CS2205" TargetMode="External"/><Relationship Id="rId4" Type="http://schemas.openxmlformats.org/officeDocument/2006/relationships/hyperlink" Target="https://youtu.be/49S6kkh_D4A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rgbClr val="FFFFFF"/>
                </a:solidFill>
                <a:highlight>
                  <a:srgbClr val="448AFF"/>
                </a:highlight>
              </a:rPr>
              <a:t>NGHIÊN CỨU VÀ ĐỀ XUẤT GIẢI PHÁP THÍCH NGHI </a:t>
            </a:r>
            <a:endParaRPr b="1" sz="2500">
              <a:solidFill>
                <a:srgbClr val="FFFFFF"/>
              </a:solidFill>
              <a:highlight>
                <a:srgbClr val="448AFF"/>
              </a:highlight>
            </a:endParaRPr>
          </a:p>
          <a:p>
            <a:pPr indent="0" lvl="0" marL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rgbClr val="FFFFFF"/>
                </a:solidFill>
                <a:highlight>
                  <a:srgbClr val="448AFF"/>
                </a:highlight>
              </a:rPr>
              <a:t>MÔ HÌNH DCDM</a:t>
            </a:r>
            <a:endParaRPr b="1" sz="2500">
              <a:solidFill>
                <a:srgbClr val="FFFFFF"/>
              </a:solidFill>
              <a:highlight>
                <a:srgbClr val="448AFF"/>
              </a:highlight>
            </a:endParaRPr>
          </a:p>
          <a:p>
            <a:pPr indent="0" lvl="0" marL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rgbClr val="FFFFFF"/>
                </a:solidFill>
                <a:highlight>
                  <a:srgbClr val="448AFF"/>
                </a:highlight>
              </a:rPr>
              <a:t>CHO BÀI TOÁN SIÊU PHÂN GIẢI VĂN BẢN TIẾNG VIỆT</a:t>
            </a:r>
            <a:endParaRPr b="1" sz="2500">
              <a:solidFill>
                <a:srgbClr val="FFFFFF"/>
              </a:solidFill>
              <a:highlight>
                <a:srgbClr val="448AFF"/>
              </a:highlight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</p:txBody>
      </p:sp>
      <p:sp>
        <p:nvSpPr>
          <p:cNvPr id="67" name="Google Shape;67;p13"/>
          <p:cNvSpPr txBox="1"/>
          <p:nvPr>
            <p:ph type="title"/>
          </p:nvPr>
        </p:nvSpPr>
        <p:spPr>
          <a:xfrm>
            <a:off x="2055600" y="2890371"/>
            <a:ext cx="50328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/>
              <a:t>Nguyễn Hoàng Sơn - </a:t>
            </a:r>
            <a:r>
              <a:rPr b="1" lang="en" sz="2400">
                <a:latin typeface="Roboto Mono"/>
                <a:ea typeface="Roboto Mono"/>
                <a:cs typeface="Roboto Mono"/>
                <a:sym typeface="Roboto Mono"/>
              </a:rPr>
              <a:t>250101058</a:t>
            </a:r>
            <a:endParaRPr b="1" sz="240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Tóm tắt 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/>
              <a:t>Lớp: </a:t>
            </a:r>
            <a:r>
              <a:rPr lang="en" sz="1800"/>
              <a:t>CS2205.CH201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/>
              <a:t>Link Github của nhóm: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https://github.com/HoangSonDeveloper/CS2205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/>
              <a:t>Link YouTube video: </a:t>
            </a:r>
            <a:r>
              <a:rPr lang="en" sz="1800" u="sng">
                <a:solidFill>
                  <a:schemeClr val="hlink"/>
                </a:solidFill>
                <a:hlinkClick r:id="rId4"/>
              </a:rPr>
              <a:t>https://youtu.be/49S6kkh_D4A</a:t>
            </a:r>
            <a:endParaRPr sz="18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9144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Giới thiệu</a:t>
            </a:r>
            <a:endParaRPr/>
          </a:p>
        </p:txBody>
      </p:sp>
      <p:sp>
        <p:nvSpPr>
          <p:cNvPr id="79" name="Google Shape;79;p15"/>
          <p:cNvSpPr txBox="1"/>
          <p:nvPr/>
        </p:nvSpPr>
        <p:spPr>
          <a:xfrm>
            <a:off x="460950" y="1047425"/>
            <a:ext cx="8222100" cy="16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highlight>
                  <a:srgbClr val="F9F9F9"/>
                </a:highlight>
              </a:rPr>
              <a:t>OCR được sử dụng rộng rãi trong hành chính, giao thông, tài chính</a:t>
            </a:r>
            <a:endParaRPr sz="1800">
              <a:highlight>
                <a:srgbClr val="F9F9F9"/>
              </a:highlight>
            </a:endParaRPr>
          </a:p>
          <a:p>
            <a:pPr indent="-342900" lvl="0" marL="4572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highlight>
                  <a:srgbClr val="F9F9F9"/>
                </a:highlight>
              </a:rPr>
              <a:t>Ảnh văn bản thực tế thường bị mờ, nhiễu, độ phân giải thấp</a:t>
            </a:r>
            <a:endParaRPr sz="1800">
              <a:highlight>
                <a:srgbClr val="F9F9F9"/>
              </a:highlight>
            </a:endParaRPr>
          </a:p>
          <a:p>
            <a:pPr indent="-342900" lvl="0" marL="4572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highlight>
                  <a:srgbClr val="F9F9F9"/>
                </a:highlight>
              </a:rPr>
              <a:t>Siêu phân giải văn bản giúp cải thiện chất lượng đầu vào cho OCR</a:t>
            </a:r>
            <a:endParaRPr sz="1800">
              <a:highlight>
                <a:srgbClr val="F9F9F9"/>
              </a:highlight>
            </a:endParaRPr>
          </a:p>
          <a:p>
            <a:pPr indent="-342900" lvl="0" marL="4572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highlight>
                  <a:srgbClr val="F9F9F9"/>
                </a:highlight>
              </a:rPr>
              <a:t>Các mô hình SR truyền thống chưa xử lý tốt chi tiết ký tự nhỏ</a:t>
            </a:r>
            <a:endParaRPr sz="1800">
              <a:highlight>
                <a:srgbClr val="F9F9F9"/>
              </a:highligh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Giới thiệu</a:t>
            </a:r>
            <a:endParaRPr/>
          </a:p>
        </p:txBody>
      </p:sp>
      <p:sp>
        <p:nvSpPr>
          <p:cNvPr id="85" name="Google Shape;85;p16"/>
          <p:cNvSpPr txBox="1"/>
          <p:nvPr/>
        </p:nvSpPr>
        <p:spPr>
          <a:xfrm>
            <a:off x="503850" y="1038925"/>
            <a:ext cx="8158200" cy="154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highlight>
                  <a:srgbClr val="F9F9F9"/>
                </a:highlight>
              </a:rPr>
              <a:t>DCDM (ECCV 2024) là mô hình SR văn bản dựa trên Diffusion</a:t>
            </a:r>
            <a:endParaRPr sz="1800">
              <a:highlight>
                <a:srgbClr val="F9F9F9"/>
              </a:highlight>
            </a:endParaRPr>
          </a:p>
          <a:p>
            <a:pPr indent="-34290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highlight>
                  <a:srgbClr val="F9F9F9"/>
                </a:highlight>
              </a:rPr>
              <a:t>Khai thác thông tin ngữ nghĩa ở mức ký tự</a:t>
            </a:r>
            <a:endParaRPr sz="1800">
              <a:highlight>
                <a:srgbClr val="F9F9F9"/>
              </a:highlight>
            </a:endParaRPr>
          </a:p>
          <a:p>
            <a:pPr indent="-34290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highlight>
                  <a:srgbClr val="F9F9F9"/>
                </a:highlight>
              </a:rPr>
              <a:t>Mô hình được tối ưu chủ yếu cho tiếng Anh</a:t>
            </a:r>
            <a:endParaRPr sz="1800">
              <a:highlight>
                <a:srgbClr val="F9F9F9"/>
              </a:highlight>
            </a:endParaRPr>
          </a:p>
          <a:p>
            <a:pPr indent="-34290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>
                <a:highlight>
                  <a:srgbClr val="F9F9F9"/>
                </a:highlight>
              </a:rPr>
              <a:t>Chưa phù hợp với tiếng Việt có dấu thanh và nguyên âm biến thể</a:t>
            </a:r>
            <a:endParaRPr sz="1800">
              <a:highlight>
                <a:srgbClr val="F9F9F9"/>
              </a:highlight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Mục tiêu</a:t>
            </a:r>
            <a:endParaRPr/>
          </a:p>
        </p:txBody>
      </p:sp>
      <p:sp>
        <p:nvSpPr>
          <p:cNvPr id="91" name="Google Shape;91;p17"/>
          <p:cNvSpPr txBox="1"/>
          <p:nvPr>
            <p:ph idx="1" type="body"/>
          </p:nvPr>
        </p:nvSpPr>
        <p:spPr>
          <a:xfrm>
            <a:off x="471900" y="820500"/>
            <a:ext cx="8222100" cy="129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Phân tích hạn chế của mô hình DCDM khi áp dụng cho tiếng Việt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Xây dựng dữ liệu phục vụ bài toán siêu phân giải văn bản tiếng Việt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Đề xuất giải pháp thích nghi mô hình DCDM cho văn bản có dấu</a:t>
            </a:r>
            <a:endParaRPr sz="18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Nội dung và phương pháp</a:t>
            </a:r>
            <a:endParaRPr/>
          </a:p>
        </p:txBody>
      </p:sp>
      <p:sp>
        <p:nvSpPr>
          <p:cNvPr id="97" name="Google Shape;97;p18"/>
          <p:cNvSpPr txBox="1"/>
          <p:nvPr>
            <p:ph idx="1" type="body"/>
          </p:nvPr>
        </p:nvSpPr>
        <p:spPr>
          <a:xfrm>
            <a:off x="352675" y="1368300"/>
            <a:ext cx="4194600" cy="24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Xây dựng bộ dữ liệu văn bản tiếng Việt giả lập (đa dạng phông chữ, nền ảnh, mức nhiễu)</a:t>
            </a:r>
            <a:endParaRPr sz="1600"/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Mở rộng không gian biểu diễn ký tự trong mô hình để hỗ trợ dấu tiếng Việt</a:t>
            </a:r>
            <a:endParaRPr sz="1600"/>
          </a:p>
          <a:p>
            <a:pPr indent="-3302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Fine-tune mô hình DCDM trên tập dữ liệu tiếng Việt đã chuẩn bị</a:t>
            </a:r>
            <a:endParaRPr sz="1600"/>
          </a:p>
          <a:p>
            <a:pPr indent="0" lvl="0" marL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600"/>
          </a:p>
        </p:txBody>
      </p:sp>
      <p:pic>
        <p:nvPicPr>
          <p:cNvPr id="98" name="Google Shape;98;p18" title="Screenshot 2026-01-02 at 13.46.4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4950" y="820500"/>
            <a:ext cx="4272375" cy="38451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9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Đánh giá</a:t>
            </a:r>
            <a:endParaRPr/>
          </a:p>
        </p:txBody>
      </p:sp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471900" y="948250"/>
            <a:ext cx="8222100" cy="201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Đánh giá chất lượng ảnh (Image Quality):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PSNR (Peak Signal-to-Noise Ratio)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SSIM (Structural Similarity Index)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Đánh giá hiệu dụng (Usability):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Đo lường độ chính xác nhận dạng của OCR tiếng Việt trên ảnh phục hồi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Kịch bản so sánh (Comparison):</a:t>
            </a:r>
            <a:endParaRPr sz="17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700"/>
          </a:p>
        </p:txBody>
      </p:sp>
      <p:pic>
        <p:nvPicPr>
          <p:cNvPr id="105" name="Google Shape;105;p19" title="Screenshot 2026-01-02 at 13.48.4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8174" y="2862703"/>
            <a:ext cx="5628924" cy="500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Kết quả dự kiến</a:t>
            </a:r>
            <a:endParaRPr/>
          </a:p>
        </p:txBody>
      </p:sp>
      <p:sp>
        <p:nvSpPr>
          <p:cNvPr id="111" name="Google Shape;111;p20"/>
          <p:cNvSpPr txBox="1"/>
          <p:nvPr>
            <p:ph idx="1" type="body"/>
          </p:nvPr>
        </p:nvSpPr>
        <p:spPr>
          <a:xfrm>
            <a:off x="471900" y="820500"/>
            <a:ext cx="8222100" cy="21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>
                <a:latin typeface="Arial"/>
                <a:ea typeface="Arial"/>
                <a:cs typeface="Arial"/>
                <a:sym typeface="Arial"/>
              </a:rPr>
              <a:t>Phục hồi tốt hơn các ký tự có dấu thanh.</a:t>
            </a:r>
            <a:endParaRPr sz="1800">
              <a:solidFill>
                <a:srgbClr val="448A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>
                <a:latin typeface="Arial"/>
                <a:ea typeface="Arial"/>
                <a:cs typeface="Arial"/>
                <a:sym typeface="Arial"/>
              </a:rPr>
              <a:t>Giảm hiện tượng mất hoặc sai dấu.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>
                <a:latin typeface="Arial"/>
                <a:ea typeface="Arial"/>
                <a:cs typeface="Arial"/>
                <a:sym typeface="Arial"/>
              </a:rPr>
              <a:t>Cải thiện hiệu quả của hệ thống OCR tiếng Việt.</a:t>
            </a:r>
            <a:endParaRPr sz="1800">
              <a:solidFill>
                <a:srgbClr val="448A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>
                <a:latin typeface="Arial"/>
                <a:ea typeface="Arial"/>
                <a:cs typeface="Arial"/>
                <a:sym typeface="Arial"/>
              </a:rPr>
              <a:t>Đóng góp bộ dữ liệu phục vụ nghiên cứu sau này.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1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Tài liệu tham khảo</a:t>
            </a:r>
            <a:endParaRPr/>
          </a:p>
        </p:txBody>
      </p:sp>
      <p:sp>
        <p:nvSpPr>
          <p:cNvPr id="117" name="Google Shape;117;p21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[1] Chuhui Xue, Goon-Guek Han, Wenqing Zhang, et al. "DCDM: Diffusion-Conditioned Diffusion Model for Scene Text Editing and Super-Resolution". In Proceedings of the European Conference on Computer Vision (ECCV), 2024.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[2] Y. Yuan, Z. Zhang, and C. Li, et al. "Scene Text Image Super-Resolution with Text Style Embedding". In Proceedings of the IEEE/CVF International Conference on Computer Vision (ICCV) Workshops, 2025.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[3] J. Wang, Y. Liu, and H. Hu, et al. "Efficient Scene Text Image Super-resolution with Semantic Guidance". arXiv preprint arXiv:2403.13330, 2024.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[4] L. Chen, X. Wang, and J. Li, et al. "Scene text image super-resolution with semantic-aware Interaction Network". Knowledge-Based Systems, vol. 285, 2025.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[5] T. H. Nguyen, K. V. Nguyen, and T. T. Nguyen, et al. "Vietnamese text recognition in scene images using deep learning with attention mechanism". Journal of Military Science and Technology, 2023.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[6] Q. L. Tran, H. A. Le, and T. M. Hoang, et al. "A Survey on Vietnamese Document Analysis and Recognition". arXiv preprint arXiv:2506.05061, 2025.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>
                <a:latin typeface="Times New Roman"/>
                <a:ea typeface="Times New Roman"/>
                <a:cs typeface="Times New Roman"/>
                <a:sym typeface="Times New Roman"/>
              </a:rPr>
              <a:t>[7] M. T. Nguyen, et al. "VietOCR: A Tool for Vietnamese Optical Character Recognition". GitHub Repository: lynguyenminh/vietnamese-scenetext-detection-recognition, 2023.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aterial - R01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